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74C38"/>
          </a:solidFill>
          <a:ln>
            <a:solidFill>
              <a:srgbClr val="174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52120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6B4B"/>
                </a:solidFill>
                <a:latin typeface="Aptos"/>
              </a:rPr>
              <a:t>AI IN ACTION  / 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0" y="219456"/>
            <a:ext cx="32004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D6D64"/>
                </a:solidFill>
                <a:latin typeface="Aptos"/>
              </a:rPr>
              <a:t>VINTAY  ·  NHÓM 1  ·  ĐỀ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2820"/>
                </a:solidFill>
                <a:latin typeface="Aptos"/>
              </a:rPr>
              <a:t>SổSạch: tự động hóa có điều kiện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8755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D64"/>
                </a:solidFill>
                <a:latin typeface="Aptos"/>
              </a:rPr>
              <a:t>Lộ trình 12 tháng  ·  Đọc hóa đơn đầu vào cho văn phòng kế toán dịch vụ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11183112" cy="621792"/>
          </a:xfrm>
          <a:prstGeom prst="roundRect">
            <a:avLst>
              <a:gd name="adj" fmla="val 8000"/>
            </a:avLst>
          </a:prstGeom>
          <a:solidFill>
            <a:srgbClr val="174C38"/>
          </a:solidFill>
          <a:ln>
            <a:solidFill>
              <a:srgbClr val="174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63040"/>
            <a:ext cx="12435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FE1CD"/>
                </a:solidFill>
                <a:latin typeface="Aptos"/>
              </a:rPr>
              <a:t>KHUYẾN NGHỊ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35608"/>
            <a:ext cx="94640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Tận dụng phần mềm sẵn có; thử OCR và gắn cờ có người duyệt, chưa tự nhập đại trà.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94560"/>
            <a:ext cx="726948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D6D64"/>
                </a:solidFill>
                <a:latin typeface="Aptos"/>
              </a:rPr>
              <a:t>LỘ TRÌNH  /  CỔNG TRƯỚC KHI TĂNG TỰ ĐỘNG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340156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D6D64"/>
                </a:solidFill>
                <a:latin typeface="Aptos"/>
              </a:rPr>
              <a:t>KINH TẾ  /  ĐIỀU KIỆN DỪNG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542032"/>
            <a:ext cx="7424927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542032"/>
            <a:ext cx="68580" cy="896112"/>
          </a:xfrm>
          <a:prstGeom prst="rect">
            <a:avLst/>
          </a:prstGeom>
          <a:solidFill>
            <a:srgbClr val="236B4B"/>
          </a:solidFill>
          <a:ln>
            <a:solidFill>
              <a:srgbClr val="236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2633472"/>
            <a:ext cx="11704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6B4B"/>
                </a:solidFill>
                <a:latin typeface="Aptos"/>
              </a:rPr>
              <a:t>0–3 THÁNG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2615184"/>
            <a:ext cx="57607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820"/>
                </a:solidFill>
                <a:latin typeface="Aptos"/>
              </a:rPr>
              <a:t>Dùng sẵn, pilot có duyệt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2871215"/>
            <a:ext cx="578815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D64"/>
                </a:solidFill>
                <a:latin typeface="Aptos"/>
              </a:rPr>
              <a:t>Tệp gốc + tra cứu mã số thuế; thử OCR ảnh và gắn cờ. Tuần đầu kiểm 1% hóa đơn thật.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63824"/>
            <a:ext cx="6949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6B4B"/>
                </a:solidFill>
                <a:latin typeface="Aptos"/>
              </a:rPr>
              <a:t>Cổng M1 · 40 hóa đơn / 4 tầng · đạt thực tế ≥95% · 0 lỗi nghiêm trọng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3575304"/>
            <a:ext cx="7424927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" y="3575304"/>
            <a:ext cx="68580" cy="896112"/>
          </a:xfrm>
          <a:prstGeom prst="rect">
            <a:avLst/>
          </a:prstGeom>
          <a:solidFill>
            <a:srgbClr val="B96A2D"/>
          </a:solidFill>
          <a:ln>
            <a:solidFill>
              <a:srgbClr val="B96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3666744"/>
            <a:ext cx="11704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96A2D"/>
                </a:solidFill>
                <a:latin typeface="Aptos"/>
              </a:rPr>
              <a:t>3–6 THÁNG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3648456"/>
            <a:ext cx="57607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820"/>
                </a:solidFill>
                <a:latin typeface="Aptos"/>
              </a:rPr>
              <a:t>Shadow trước khi tăng tự động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3904488"/>
            <a:ext cx="578815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D64"/>
                </a:solidFill>
                <a:latin typeface="Aptos"/>
              </a:rPr>
              <a:t>Chỉ lên M2 (duyệt ~10%) khi qua cổng; chưa đạt thì giữ M1 và sửa.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97096"/>
            <a:ext cx="6949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96A2D"/>
                </a:solidFill>
                <a:latin typeface="Aptos"/>
              </a:rPr>
              <a:t>120 hóa đơn · 0 sai mã số thuế/tiền · cờ thừa ≤20% (mục tiêu nhóm)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4608576"/>
            <a:ext cx="7424927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" y="4608576"/>
            <a:ext cx="68580" cy="896112"/>
          </a:xfrm>
          <a:prstGeom prst="rect">
            <a:avLst/>
          </a:prstGeom>
          <a:solidFill>
            <a:srgbClr val="174C38"/>
          </a:solidFill>
          <a:ln>
            <a:solidFill>
              <a:srgbClr val="174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4700016"/>
            <a:ext cx="11704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74C38"/>
                </a:solidFill>
                <a:latin typeface="Aptos"/>
              </a:rPr>
              <a:t>6–12 THÁNG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4681728"/>
            <a:ext cx="57607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820"/>
                </a:solidFill>
                <a:latin typeface="Aptos"/>
              </a:rPr>
              <a:t>Chỉ tự nhập hóa đơn sạch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8528" y="4937760"/>
            <a:ext cx="578815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D64"/>
                </a:solidFill>
                <a:latin typeface="Aptos"/>
              </a:rPr>
              <a:t>Gắn cờ ngoại lệ; giữ nút dừng, người duyệt và khả năng lùi mức.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30368"/>
            <a:ext cx="6949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74C38"/>
                </a:solidFill>
                <a:latin typeface="Aptos"/>
              </a:rPr>
              <a:t>300 hóa đơn · 0 lỗi nghiêm trọng · biên gộp ≥60% · chị Hạnh xác nhận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542032"/>
            <a:ext cx="3456432" cy="2962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2724912"/>
            <a:ext cx="14173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4C38"/>
                </a:solidFill>
                <a:latin typeface="Aptos"/>
              </a:rPr>
              <a:t>704đ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136392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D64"/>
                </a:solidFill>
                <a:latin typeface="Aptos"/>
              </a:rPr>
              <a:t>chi phí / hóa đơn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21824" y="2743200"/>
            <a:ext cx="18288" cy="548640"/>
          </a:xfrm>
          <a:prstGeom prst="rect">
            <a:avLst/>
          </a:prstGeom>
          <a:solidFill>
            <a:srgbClr val="D8E0DA"/>
          </a:solidFill>
          <a:ln>
            <a:solidFill>
              <a:srgbClr val="D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22992" y="2724912"/>
            <a:ext cx="126187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36B4B"/>
                </a:solidFill>
                <a:latin typeface="Aptos"/>
              </a:rPr>
              <a:t>68,8%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2992" y="3136392"/>
            <a:ext cx="125272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D64"/>
                </a:solidFill>
                <a:latin typeface="Aptos"/>
              </a:rPr>
              <a:t>biên gộp M1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49056" y="3493008"/>
            <a:ext cx="3017520" cy="13716"/>
          </a:xfrm>
          <a:prstGeom prst="rect">
            <a:avLst/>
          </a:prstGeom>
          <a:solidFill>
            <a:srgbClr val="D8E0DA"/>
          </a:solidFill>
          <a:ln>
            <a:solidFill>
              <a:srgbClr val="D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3602736"/>
            <a:ext cx="30175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96A2D"/>
                </a:solidFill>
                <a:latin typeface="Aptos"/>
              </a:rPr>
              <a:t>RỦI RO DOANH THU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3840480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2820"/>
                </a:solidFill>
                <a:latin typeface="Aptos"/>
              </a:rPr>
              <a:t>65% doanh thu đến từ 30% văn phòng dùng nhiều.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407408"/>
            <a:ext cx="2971800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D64"/>
                </a:solidFill>
                <a:latin typeface="Aptos"/>
              </a:rPr>
              <a:t>Dừng mở rộng nếu doanh thu &lt;3,71 triệu đồng/văn phòng/tháng trong 2 tháng liên tiếp trên ≥10 văn phòng.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5614416"/>
            <a:ext cx="3456432" cy="585216"/>
          </a:xfrm>
          <a:prstGeom prst="roundRect">
            <a:avLst>
              <a:gd name="adj" fmla="val 8000"/>
            </a:avLst>
          </a:prstGeom>
          <a:solidFill>
            <a:srgbClr val="F5E7E3"/>
          </a:solidFill>
          <a:ln>
            <a:solidFill>
              <a:srgbClr val="F5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5614416"/>
            <a:ext cx="68580" cy="585216"/>
          </a:xfrm>
          <a:prstGeom prst="rect">
            <a:avLst/>
          </a:prstGeom>
          <a:solidFill>
            <a:srgbClr val="A44336"/>
          </a:solidFill>
          <a:ln>
            <a:solidFill>
              <a:srgbClr val="A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0768" y="5669280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44336"/>
                </a:solidFill>
                <a:latin typeface="Aptos"/>
              </a:rPr>
              <a:t>1 lỗi mã số thuế/tiền → dừng tự nhập, lùi về M1.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0352" y="5760720"/>
            <a:ext cx="7424927" cy="438912"/>
          </a:xfrm>
          <a:prstGeom prst="roundRect">
            <a:avLst>
              <a:gd name="adj" fmla="val 8000"/>
            </a:avLst>
          </a:prstGeom>
          <a:solidFill>
            <a:srgbClr val="E2EFE7"/>
          </a:solidFill>
          <a:ln>
            <a:solidFill>
              <a:srgbClr val="E2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5806440"/>
            <a:ext cx="70408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74C38"/>
                </a:solidFill>
                <a:latin typeface="Aptos"/>
              </a:rPr>
              <a:t>MỐC XEM LẠI   30 ngày: pilot/cờ thừa   →   60 ngày: cổng 120 ca   →   90 ngày: mở rộng hay dừng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318504"/>
            <a:ext cx="10972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64"/>
                </a:solidFill>
                <a:latin typeface="Aptos"/>
              </a:rPr>
              <a:t>Nguồn: Hồ sơ tình huống CS13 · Đề 1. Cỡ mẫu 120/300 là cổng nhóm đề xuất; không phải kết quả đã đo.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